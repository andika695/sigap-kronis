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9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Bobot</c:v>
                </c:pt>
              </c:strCache>
            </c:strRef>
          </c:tx>
          <c:spPr>
            <a:solidFill>
              <a:srgbClr val="0F5C7A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7323B"/>
                    </a:solidFill>
                    <a:latin typeface="Calibri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C1</c:v>
                </c:pt>
                <c:pt idx="1">
                  <c:v>C2</c:v>
                </c:pt>
                <c:pt idx="2">
                  <c:v>C3</c:v>
                </c:pt>
                <c:pt idx="3">
                  <c:v>C4</c:v>
                </c:pt>
                <c:pt idx="4">
                  <c:v>C5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0.36</c:v>
                </c:pt>
                <c:pt idx="1">
                  <c:v>0.36</c:v>
                </c:pt>
                <c:pt idx="2">
                  <c:v>6.4000000000000001E-2</c:v>
                </c:pt>
                <c:pt idx="3">
                  <c:v>6.4000000000000001E-2</c:v>
                </c:pt>
                <c:pt idx="4">
                  <c:v>0.152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710-405E-8EF5-160067B50F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17323B"/>
                </a:solidFill>
                <a:latin typeface="Calibri"/>
              </a:defRPr>
            </a:pPr>
            <a:endParaRPr lang="id-ID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Skor SAW</c:v>
                </c:pt>
              </c:strCache>
            </c:strRef>
          </c:tx>
          <c:spPr>
            <a:solidFill>
              <a:srgbClr val="0F5C7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7323B"/>
                    </a:solidFill>
                    <a:latin typeface="Calibri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Pak Slamet</c:v>
                </c:pt>
                <c:pt idx="1">
                  <c:v>Pak Joko</c:v>
                </c:pt>
                <c:pt idx="2">
                  <c:v>Bu Wati</c:v>
                </c:pt>
                <c:pt idx="3">
                  <c:v>Bu Sari</c:v>
                </c:pt>
                <c:pt idx="4">
                  <c:v>Bu Ningsih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0.877</c:v>
                </c:pt>
                <c:pt idx="2">
                  <c:v>0.66300000000000003</c:v>
                </c:pt>
                <c:pt idx="3">
                  <c:v>0.57099999999999995</c:v>
                </c:pt>
                <c:pt idx="4">
                  <c:v>0.505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BB-44DD-A524-C4AB94DF35A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 TOPSIS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7323B"/>
                    </a:solidFill>
                    <a:latin typeface="Calibri"/>
                  </a:defRPr>
                </a:pPr>
                <a:endParaRPr lang="id-ID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Pak Slamet</c:v>
                </c:pt>
                <c:pt idx="1">
                  <c:v>Pak Joko</c:v>
                </c:pt>
                <c:pt idx="2">
                  <c:v>Bu Wati</c:v>
                </c:pt>
                <c:pt idx="3">
                  <c:v>Bu Sari</c:v>
                </c:pt>
                <c:pt idx="4">
                  <c:v>Bu Ningsih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0.83399999999999996</c:v>
                </c:pt>
                <c:pt idx="2">
                  <c:v>0.41699999999999998</c:v>
                </c:pt>
                <c:pt idx="3">
                  <c:v>0.183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6BB-44DD-A524-C4AB94DF35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1" i="0" u="none" strike="noStrike">
                <a:solidFill>
                  <a:srgbClr val="17323B"/>
                </a:solidFill>
                <a:latin typeface="Calibri"/>
              </a:defRPr>
            </a:pPr>
            <a:endParaRPr lang="id-ID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49999999999999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17323B"/>
              </a:solidFill>
              <a:latin typeface="Calibri"/>
              <a:cs typeface="Calibri"/>
            </a:defRPr>
          </a:pPr>
          <a:endParaRPr lang="id-ID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8425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0" Type="http://schemas.openxmlformats.org/officeDocument/2006/relationships/image" Target="../media/image8.png"/><Relationship Id="rId4" Type="http://schemas.openxmlformats.org/officeDocument/2006/relationships/image" Target="../media/image10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0F5C7A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206240"/>
            <a:ext cx="3291840" cy="3291840"/>
          </a:xfrm>
          <a:prstGeom prst="ellipse">
            <a:avLst/>
          </a:prstGeom>
          <a:solidFill>
            <a:srgbClr val="0E4C60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4008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ic/heartbeat_dark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8778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17830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CERDAS DAN PENDUKUNG KEPUTUSAN  ·  PROTOTYPE APLIKASI SPK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" y="20574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SIGAP-Kronis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713232" y="310896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Pendukung Keputusan untuk Stratifikasi Risiko Pasien Hipertensi dan Diabetes Melitus Tipe 2 — Alat Bantu Deteksi Dini &amp; Prioritas Intervensi di Tingkat Puskesmas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4343400"/>
            <a:ext cx="10698480" cy="0"/>
          </a:xfrm>
          <a:prstGeom prst="line">
            <a:avLst/>
          </a:prstGeom>
          <a:noFill/>
          <a:ln w="12700">
            <a:solidFill>
              <a:srgbClr val="1D546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45262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“KESATRIA NAGA HITAM”
</a:t>
            </a:r>
            <a:endParaRPr lang="en-US" sz="13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 Aldo Givary Prasetyo  ·  W. Andika Aditama  ·  Rifqi Aunnur Rohman  ·  Muhammad Akbar Pratama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13232" y="59893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E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Cerdas dan Pendukung Keputusan   ·   Informatika / E   ·   Universitas Islam Indonesia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UMUM · MASALAH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Hipertensi &amp; Diabetes: Akar Penyakit Katastropik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64792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5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532888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Penyakit jantung dipicu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hipertensi tak terkontrol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64992" y="160020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10712" y="1764792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02152" y="2532888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Prevalensi hipertensi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populasi nasional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1344" y="160020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27064" y="1764792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5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18504" y="2532888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Lansia Indonesia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mengalami hipertensi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97696" y="1600200"/>
            <a:ext cx="2615184" cy="1554480"/>
          </a:xfrm>
          <a:prstGeom prst="roundRect">
            <a:avLst>
              <a:gd name="adj" fmla="val 5882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43416" y="1764792"/>
            <a:ext cx="25237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Rp19 T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34856" y="2532888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penyakit jantung</a:t>
            </a:r>
            <a:endParaRPr lang="en-US" sz="11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tahun (2024–2025)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5661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follow-up — data ada, tindak lanjut tidak ada: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2880360" cy="1051560"/>
          </a:xfrm>
          <a:prstGeom prst="roundRect">
            <a:avLst>
              <a:gd name="adj" fmla="val 8696"/>
            </a:avLst>
          </a:prstGeom>
          <a:solidFill>
            <a:srgbClr val="EAF3F6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297680"/>
            <a:ext cx="502920" cy="502920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19" name="Image 0" descr="/home/claude/ic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425696"/>
            <a:ext cx="246888" cy="24688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417320" y="42245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Kader cek tensi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gula darah rutin</a:t>
            </a:r>
            <a:endParaRPr lang="en-US" sz="1250" dirty="0"/>
          </a:p>
        </p:txBody>
      </p:sp>
      <p:pic>
        <p:nvPicPr>
          <p:cNvPr id="21" name="Image 1" descr="/home/claude/ic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4402836"/>
            <a:ext cx="292608" cy="292608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3931920" y="4023360"/>
            <a:ext cx="2880360" cy="1051560"/>
          </a:xfrm>
          <a:prstGeom prst="roundRect">
            <a:avLst>
              <a:gd name="adj" fmla="val 8696"/>
            </a:avLst>
          </a:prstGeom>
          <a:solidFill>
            <a:srgbClr val="EAF3F6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133088" y="4297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2" descr="/home/claude/ic/clipboardlis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1104" y="4425696"/>
            <a:ext cx="246888" cy="2468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00600" y="42245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tercatat di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kertas / buku</a:t>
            </a:r>
            <a:endParaRPr lang="en-US" sz="1250" dirty="0"/>
          </a:p>
        </p:txBody>
      </p:sp>
      <p:pic>
        <p:nvPicPr>
          <p:cNvPr id="26" name="Image 3" descr="/home/claude/ic/arrow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5432" y="4402836"/>
            <a:ext cx="292608" cy="292608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7315200" y="4023360"/>
            <a:ext cx="2880360" cy="1051560"/>
          </a:xfrm>
          <a:prstGeom prst="roundRect">
            <a:avLst>
              <a:gd name="adj" fmla="val 8696"/>
            </a:avLst>
          </a:prstGeom>
          <a:solidFill>
            <a:srgbClr val="FCE1E1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516368" y="4297680"/>
            <a:ext cx="502920" cy="502920"/>
          </a:xfrm>
          <a:prstGeom prst="ellipse">
            <a:avLst/>
          </a:prstGeom>
          <a:solidFill>
            <a:srgbClr val="B0201C"/>
          </a:solidFill>
          <a:ln/>
        </p:spPr>
      </p:sp>
      <p:pic>
        <p:nvPicPr>
          <p:cNvPr id="29" name="Image 4" descr="/home/claude/ic/exclamation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384" y="4425696"/>
            <a:ext cx="246888" cy="24688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183880" y="4224528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stratifikasi risiko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548640" y="54864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0B3D4C"/>
          </a:solidFill>
          <a:ln/>
        </p:spPr>
      </p:sp>
      <p:sp>
        <p:nvSpPr>
          <p:cNvPr id="32" name="Shape 25"/>
          <p:cNvSpPr/>
          <p:nvPr/>
        </p:nvSpPr>
        <p:spPr>
          <a:xfrm>
            <a:off x="777240" y="5605272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3" name="Image 5" descr="/home/claude/ic/checkcircle_dark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5696712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325880" y="5486400"/>
            <a:ext cx="10149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SIGAP-Kronis menutup celah ini </a:t>
            </a:r>
            <a:r>
              <a:rPr lang="en-US" sz="1300" dirty="0">
                <a:solidFill>
                  <a:srgbClr val="CF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lewat skoring &amp; dashboard prioritas otomatis, sehingga intervensi jelas dan terukur.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Sumber: Kuliah pakar dr. Riana Rahmawati, Dokter Umum FK UII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GAMBARAN UMUM · SOLUSI &amp; METODE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Kerja &amp; Kombinasi Metode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700784" cy="1280160"/>
          </a:xfrm>
          <a:prstGeom prst="roundRect">
            <a:avLst>
              <a:gd name="adj" fmla="val 7143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733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43000" y="1892808"/>
            <a:ext cx="512064" cy="512064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7" name="Image 0" descr="/home/claude/ic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029968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24414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Kader input data pemeriksaan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203704" y="19202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95728" y="1600200"/>
            <a:ext cx="1700784" cy="1280160"/>
          </a:xfrm>
          <a:prstGeom prst="roundRect">
            <a:avLst>
              <a:gd name="adj" fmla="val 7143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487168" y="16733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990088" y="1892808"/>
            <a:ext cx="512064" cy="512064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13" name="Image 1" descr="/home/claude/ic/slid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202996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8880" y="24414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hitung skor (AHP → SAW/TOPSIS)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4050792" y="19202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4242816" y="1600200"/>
            <a:ext cx="1700784" cy="1280160"/>
          </a:xfrm>
          <a:prstGeom prst="roundRect">
            <a:avLst>
              <a:gd name="adj" fmla="val 7143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334256" y="16733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837176" y="1892808"/>
            <a:ext cx="512064" cy="512064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19" name="Image 2" descr="/home/claude/ic/idbadg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4336" y="202996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315968" y="24414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prioritas penanganan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897880" y="19202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6089904" y="1600200"/>
            <a:ext cx="1700784" cy="1280160"/>
          </a:xfrm>
          <a:prstGeom prst="roundRect">
            <a:avLst>
              <a:gd name="adj" fmla="val 7143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181344" y="16733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6684264" y="1892808"/>
            <a:ext cx="512064" cy="512064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25" name="Image 3" descr="/home/claude/ic/bell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1424" y="2029968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163056" y="24414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Dashboard, red flag di atas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7744968" y="19202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7936992" y="1600200"/>
            <a:ext cx="1700784" cy="1280160"/>
          </a:xfrm>
          <a:prstGeom prst="roundRect">
            <a:avLst>
              <a:gd name="adj" fmla="val 7143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028432" y="16733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8531352" y="1892808"/>
            <a:ext cx="512064" cy="512064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31" name="Image 4" descr="/home/claude/ic/stethoscop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8512" y="2029968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010144" y="24414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Dokter/perawat tindak lanjut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9592056" y="192024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4" name="Shape 27"/>
          <p:cNvSpPr/>
          <p:nvPr/>
        </p:nvSpPr>
        <p:spPr>
          <a:xfrm>
            <a:off x="9784080" y="1600200"/>
            <a:ext cx="1700784" cy="1280160"/>
          </a:xfrm>
          <a:prstGeom prst="roundRect">
            <a:avLst>
              <a:gd name="adj" fmla="val 7143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9875520" y="16733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10378440" y="1892808"/>
            <a:ext cx="512064" cy="512064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37" name="Image 5" descr="/home/claude/ic/syncal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15600" y="2029968"/>
            <a:ext cx="237744" cy="237744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857232" y="244144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Re-scoring tiap kunjungan baru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548640" y="324612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EAF3F6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822960" y="3520440"/>
            <a:ext cx="658368" cy="658368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41" name="Image 6" descr="/home/claude/ic/scal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" y="3703320"/>
            <a:ext cx="292608" cy="29260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600200" y="35021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5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AHP</a:t>
            </a:r>
            <a:endParaRPr lang="en-US" sz="2200" dirty="0"/>
          </a:p>
        </p:txBody>
      </p:sp>
      <p:sp>
        <p:nvSpPr>
          <p:cNvPr id="43" name="Text 34"/>
          <p:cNvSpPr/>
          <p:nvPr/>
        </p:nvSpPr>
        <p:spPr>
          <a:xfrm>
            <a:off x="1600200" y="39044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Hierarchy Process</a:t>
            </a:r>
            <a:endParaRPr lang="en-US" sz="950" dirty="0"/>
          </a:p>
        </p:txBody>
      </p:sp>
      <p:sp>
        <p:nvSpPr>
          <p:cNvPr id="44" name="Text 35"/>
          <p:cNvSpPr/>
          <p:nvPr/>
        </p:nvSpPr>
        <p:spPr>
          <a:xfrm>
            <a:off x="822960" y="43434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bobot kriteria dari perbandingan berpasangan expert judgment dokter — diuji konsistensinya lewat CR.</a:t>
            </a:r>
            <a:endParaRPr lang="en-US" sz="1150" dirty="0"/>
          </a:p>
        </p:txBody>
      </p:sp>
      <p:sp>
        <p:nvSpPr>
          <p:cNvPr id="45" name="Shape 36"/>
          <p:cNvSpPr/>
          <p:nvPr/>
        </p:nvSpPr>
        <p:spPr>
          <a:xfrm>
            <a:off x="4315968" y="324612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EAF3F6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4590288" y="3520440"/>
            <a:ext cx="658368" cy="65836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7" name="Image 7" descr="/home/claude/ic/calculator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3168" y="3703320"/>
            <a:ext cx="292608" cy="29260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367528" y="35021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SAW</a:t>
            </a:r>
            <a:endParaRPr lang="en-US" sz="2200" dirty="0"/>
          </a:p>
        </p:txBody>
      </p:sp>
      <p:sp>
        <p:nvSpPr>
          <p:cNvPr id="49" name="Text 39"/>
          <p:cNvSpPr/>
          <p:nvPr/>
        </p:nvSpPr>
        <p:spPr>
          <a:xfrm>
            <a:off x="5367528" y="39044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Additive Weighting</a:t>
            </a:r>
            <a:endParaRPr lang="en-US" sz="950" dirty="0"/>
          </a:p>
        </p:txBody>
      </p:sp>
      <p:sp>
        <p:nvSpPr>
          <p:cNvPr id="50" name="Text 40"/>
          <p:cNvSpPr/>
          <p:nvPr/>
        </p:nvSpPr>
        <p:spPr>
          <a:xfrm>
            <a:off x="4590288" y="43434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Menjumlahkan nilai kriteria yang ternormalisasi &amp; terbobot — sederhana, cepat, mudah diaudit tenaga medis.</a:t>
            </a:r>
            <a:endParaRPr lang="en-US" sz="1150" dirty="0"/>
          </a:p>
        </p:txBody>
      </p:sp>
      <p:sp>
        <p:nvSpPr>
          <p:cNvPr id="51" name="Shape 41"/>
          <p:cNvSpPr/>
          <p:nvPr/>
        </p:nvSpPr>
        <p:spPr>
          <a:xfrm>
            <a:off x="8083296" y="3246120"/>
            <a:ext cx="3566160" cy="2148840"/>
          </a:xfrm>
          <a:prstGeom prst="roundRect">
            <a:avLst>
              <a:gd name="adj" fmla="val 4255"/>
            </a:avLst>
          </a:prstGeom>
          <a:solidFill>
            <a:srgbClr val="EAF3F6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52" name="Shape 42"/>
          <p:cNvSpPr/>
          <p:nvPr/>
        </p:nvSpPr>
        <p:spPr>
          <a:xfrm>
            <a:off x="8357616" y="3520440"/>
            <a:ext cx="658368" cy="658368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53" name="Image 8" descr="/home/claude/ic/bullsey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40496" y="3703320"/>
            <a:ext cx="292608" cy="292608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9134856" y="350215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5C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TOPSIS</a:t>
            </a:r>
            <a:endParaRPr lang="en-US" sz="2200" dirty="0"/>
          </a:p>
        </p:txBody>
      </p:sp>
      <p:sp>
        <p:nvSpPr>
          <p:cNvPr id="55" name="Text 44"/>
          <p:cNvSpPr/>
          <p:nvPr/>
        </p:nvSpPr>
        <p:spPr>
          <a:xfrm>
            <a:off x="9134856" y="39044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Preference by Ideal Solution</a:t>
            </a:r>
            <a:endParaRPr lang="en-US" sz="950" dirty="0"/>
          </a:p>
        </p:txBody>
      </p:sp>
      <p:sp>
        <p:nvSpPr>
          <p:cNvPr id="56" name="Text 45"/>
          <p:cNvSpPr/>
          <p:nvPr/>
        </p:nvSpPr>
        <p:spPr>
          <a:xfrm>
            <a:off x="8357616" y="43434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Mengukur jarak tiap pasien ke solusi ideal positif &amp; negatif — tegas memisahkan pasien aman dari red flag.</a:t>
            </a:r>
            <a:endParaRPr lang="en-US" sz="1150" dirty="0"/>
          </a:p>
        </p:txBody>
      </p:sp>
      <p:sp>
        <p:nvSpPr>
          <p:cNvPr id="57" name="Shape 46"/>
          <p:cNvSpPr/>
          <p:nvPr/>
        </p:nvSpPr>
        <p:spPr>
          <a:xfrm>
            <a:off x="548640" y="5596128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B3D4C"/>
          </a:solidFill>
          <a:ln/>
        </p:spPr>
      </p:sp>
      <p:sp>
        <p:nvSpPr>
          <p:cNvPr id="58" name="Text 47"/>
          <p:cNvSpPr/>
          <p:nvPr/>
        </p:nvSpPr>
        <p:spPr>
          <a:xfrm>
            <a:off x="777240" y="559612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Alasan kombinasi:  </a:t>
            </a:r>
            <a:r>
              <a:rPr lang="en-US" sz="12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memberi bobot objektif; SAW &amp; TOPSIS dijalankan berdampingan sebagai validasi silang — bila keduanya sepakat, keputusan lebih tepercaya.</a:t>
            </a:r>
            <a:endParaRPr lang="en-US" sz="1250" dirty="0"/>
          </a:p>
        </p:txBody>
      </p:sp>
      <p:sp>
        <p:nvSpPr>
          <p:cNvPr id="59" name="Text 48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SIGAP-Kronis · Sistem Cerdas dan Pendukung Keputusan</a:t>
            </a:r>
            <a:endParaRPr lang="en-US" sz="900" dirty="0"/>
          </a:p>
        </p:txBody>
      </p:sp>
      <p:sp>
        <p:nvSpPr>
          <p:cNvPr id="60" name="Text 49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727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MADM · INPUT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Kriteria Penilaian &amp; Data Alternatif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Atribut Klinis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166360" cy="658368"/>
          </a:xfrm>
          <a:prstGeom prst="roundRect">
            <a:avLst>
              <a:gd name="adj" fmla="val 13889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7512" y="2020824"/>
            <a:ext cx="457200" cy="457200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7" name="Image 0" descr="/home/claude/ic/heartbea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139696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197510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755648" y="197510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Tekanan Darah Sistolik</a:t>
            </a:r>
            <a:endParaRPr lang="en-US" sz="12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mmHg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2093976"/>
            <a:ext cx="896112" cy="310896"/>
          </a:xfrm>
          <a:prstGeom prst="roundRect">
            <a:avLst>
              <a:gd name="adj" fmla="val 47059"/>
            </a:avLst>
          </a:prstGeom>
          <a:solidFill>
            <a:srgbClr val="EAF3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093976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2706624"/>
            <a:ext cx="5166360" cy="658368"/>
          </a:xfrm>
          <a:prstGeom prst="roundRect">
            <a:avLst>
              <a:gd name="adj" fmla="val 13889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7512" y="2807208"/>
            <a:ext cx="457200" cy="457200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14" name="Image 1" descr="/home/claude/ic/ti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926080"/>
            <a:ext cx="219456" cy="2194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07008" y="276148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C2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1755648" y="2761488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Gula Darah Puasa</a:t>
            </a:r>
            <a:endParaRPr lang="en-US" sz="12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mg/dL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663440" y="2880360"/>
            <a:ext cx="896112" cy="310896"/>
          </a:xfrm>
          <a:prstGeom prst="roundRect">
            <a:avLst>
              <a:gd name="adj" fmla="val 47059"/>
            </a:avLst>
          </a:prstGeom>
          <a:solidFill>
            <a:srgbClr val="EAF3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663440" y="2880360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48640" y="3493008"/>
            <a:ext cx="5166360" cy="658368"/>
          </a:xfrm>
          <a:prstGeom prst="roundRect">
            <a:avLst>
              <a:gd name="adj" fmla="val 13889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67512" y="3593592"/>
            <a:ext cx="457200" cy="457200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21" name="Image 2" descr="/home/claude/ic/cak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712464"/>
            <a:ext cx="219456" cy="21945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07008" y="354787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C3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755648" y="354787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</a:t>
            </a:r>
            <a:endParaRPr lang="en-US" sz="12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tahun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663440" y="3666744"/>
            <a:ext cx="896112" cy="310896"/>
          </a:xfrm>
          <a:prstGeom prst="roundRect">
            <a:avLst>
              <a:gd name="adj" fmla="val 47059"/>
            </a:avLst>
          </a:prstGeom>
          <a:solidFill>
            <a:srgbClr val="EAF3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663440" y="3666744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48640" y="4279392"/>
            <a:ext cx="5166360" cy="658368"/>
          </a:xfrm>
          <a:prstGeom prst="roundRect">
            <a:avLst>
              <a:gd name="adj" fmla="val 13889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67512" y="4379976"/>
            <a:ext cx="457200" cy="457200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28" name="Image 3" descr="/home/claude/ic/weigh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4498848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207008" y="433425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C4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1755648" y="433425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IMT / BMI</a:t>
            </a:r>
            <a:endParaRPr lang="en-US" sz="12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kg/m²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4663440" y="4453128"/>
            <a:ext cx="896112" cy="310896"/>
          </a:xfrm>
          <a:prstGeom prst="roundRect">
            <a:avLst>
              <a:gd name="adj" fmla="val 47059"/>
            </a:avLst>
          </a:prstGeom>
          <a:solidFill>
            <a:srgbClr val="EAF3F6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663440" y="4453128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548640" y="5065776"/>
            <a:ext cx="5166360" cy="658368"/>
          </a:xfrm>
          <a:prstGeom prst="roundRect">
            <a:avLst>
              <a:gd name="adj" fmla="val 13889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67512" y="51663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5" name="Image 4" descr="/home/claude/ic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5285232"/>
            <a:ext cx="219456" cy="21945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1207008" y="512064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C5</a:t>
            </a:r>
            <a:endParaRPr lang="en-US" sz="1600" dirty="0"/>
          </a:p>
        </p:txBody>
      </p:sp>
      <p:sp>
        <p:nvSpPr>
          <p:cNvPr id="37" name="Text 30"/>
          <p:cNvSpPr/>
          <p:nvPr/>
        </p:nvSpPr>
        <p:spPr>
          <a:xfrm>
            <a:off x="1755648" y="51206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Kepatuhan Kontrol/Obat</a:t>
            </a:r>
            <a:endParaRPr lang="en-US" sz="125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95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1–5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4663440" y="5239512"/>
            <a:ext cx="896112" cy="310896"/>
          </a:xfrm>
          <a:prstGeom prst="roundRect">
            <a:avLst>
              <a:gd name="adj" fmla="val 47059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4663440" y="5239512"/>
            <a:ext cx="8961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6035040" y="1554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 Pasien Uji Coba</a:t>
            </a:r>
            <a:endParaRPr lang="en-US" sz="1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920240"/>
          <a:ext cx="5605272" cy="274320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Sari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 Joko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Wati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Pak Slamet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Ningsih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2" name="Text 34"/>
          <p:cNvSpPr/>
          <p:nvPr/>
        </p:nvSpPr>
        <p:spPr>
          <a:xfrm>
            <a:off x="6035040" y="5029200"/>
            <a:ext cx="56052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sistolik · C2 gula darah puasa · C3 usia · C4 BMI · C5 kepatuhan</a:t>
            </a:r>
            <a:endParaRPr lang="en-US" sz="950" dirty="0"/>
          </a:p>
        </p:txBody>
      </p:sp>
      <p:sp>
        <p:nvSpPr>
          <p:cNvPr id="43" name="Shape 35"/>
          <p:cNvSpPr/>
          <p:nvPr/>
        </p:nvSpPr>
        <p:spPr>
          <a:xfrm>
            <a:off x="548640" y="5596128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EAF3F6"/>
          </a:solidFill>
          <a:ln w="12700">
            <a:solidFill>
              <a:srgbClr val="D9E6EB"/>
            </a:solidFill>
            <a:prstDash val="solid"/>
          </a:ln>
        </p:spPr>
        <p:txBody>
          <a:bodyPr/>
          <a:lstStyle/>
          <a:p>
            <a:endParaRPr lang="id-ID" dirty="0"/>
          </a:p>
        </p:txBody>
      </p:sp>
      <p:sp>
        <p:nvSpPr>
          <p:cNvPr id="44" name="Text 36"/>
          <p:cNvSpPr/>
          <p:nvPr/>
        </p:nvSpPr>
        <p:spPr>
          <a:xfrm>
            <a:off x="777240" y="559612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r>
              <a:rPr lang="en-US" sz="12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makin rendah makin aman.    </a:t>
            </a: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</a:t>
            </a:r>
            <a:r>
              <a:rPr lang="en-US" sz="12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makin tinggi makin baik.    Bu Sari &amp; Bu Ningsih paling berat; Pak Slamet paling </a:t>
            </a:r>
            <a:r>
              <a:rPr lang="en-US" sz="1200" dirty="0" err="1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terkendali</a:t>
            </a:r>
            <a:r>
              <a:rPr lang="en-US" sz="12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buNone/>
            </a:pPr>
            <a:r>
              <a:rPr lang="en-US" sz="1200" dirty="0" err="1"/>
              <a:t>hipertensi</a:t>
            </a:r>
            <a:r>
              <a:rPr lang="en-US" sz="1200" dirty="0"/>
              <a:t> &amp; diabetes (</a:t>
            </a:r>
            <a:r>
              <a:rPr lang="en-US" sz="1200" dirty="0" err="1"/>
              <a:t>mengacu</a:t>
            </a:r>
            <a:r>
              <a:rPr lang="en-US" sz="1200" dirty="0"/>
              <a:t> </a:t>
            </a:r>
            <a:r>
              <a:rPr lang="en-US" sz="1200" dirty="0" err="1"/>
              <a:t>pedoman</a:t>
            </a:r>
            <a:r>
              <a:rPr lang="en-US" sz="1200" dirty="0"/>
              <a:t> ADA Standards of Care </a:t>
            </a:r>
            <a:r>
              <a:rPr lang="en-US" sz="1200" dirty="0" err="1"/>
              <a:t>untuk</a:t>
            </a:r>
            <a:r>
              <a:rPr lang="en-US" sz="1200" dirty="0"/>
              <a:t> diabetes</a:t>
            </a:r>
          </a:p>
        </p:txBody>
      </p:sp>
      <p:sp>
        <p:nvSpPr>
          <p:cNvPr id="45" name="Text 37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SIGAP-Kronis · Sistem Cerdas dan Pendukung Keputusan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MADM · PEMBOBOTAN (AHP AUTENTIK)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Bobot Diturunkan dari Perbandingan Berpasangan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Matriks Perbandingan Berpasangan (skala Saaty)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486400" cy="285292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C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1/3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73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48640" y="48920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Penilaian expert: tensi &amp; gula darah lebih penting (5) dari usia/BMI dan (3) dari kepatuhan; kepatuhan (3) dari usia/BMI.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6400800" y="15361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Kriteria Hasil AHP (W)</a:t>
            </a:r>
            <a:endParaRPr lang="en-US" sz="13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355080" y="1874520"/>
          <a:ext cx="530352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6355080" y="4572000"/>
            <a:ext cx="1673352" cy="804672"/>
          </a:xfrm>
          <a:prstGeom prst="roundRect">
            <a:avLst>
              <a:gd name="adj" fmla="val 9091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355080" y="4663440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λmax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6355080" y="4901184"/>
            <a:ext cx="1673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5,056</a:t>
            </a:r>
            <a:endParaRPr lang="en-US" sz="2000" dirty="0"/>
          </a:p>
        </p:txBody>
      </p:sp>
      <p:sp>
        <p:nvSpPr>
          <p:cNvPr id="12" name="Shape 8"/>
          <p:cNvSpPr/>
          <p:nvPr/>
        </p:nvSpPr>
        <p:spPr>
          <a:xfrm>
            <a:off x="8147304" y="4572000"/>
            <a:ext cx="1673352" cy="804672"/>
          </a:xfrm>
          <a:prstGeom prst="roundRect">
            <a:avLst>
              <a:gd name="adj" fmla="val 9091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147304" y="4663440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147304" y="4901184"/>
            <a:ext cx="1673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0,014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9939528" y="4572000"/>
            <a:ext cx="1673352" cy="804672"/>
          </a:xfrm>
          <a:prstGeom prst="roundRect">
            <a:avLst>
              <a:gd name="adj" fmla="val 9091"/>
            </a:avLst>
          </a:prstGeom>
          <a:solidFill>
            <a:srgbClr val="DCFCE7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939528" y="4663440"/>
            <a:ext cx="1673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9939528" y="4901184"/>
            <a:ext cx="16733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0,012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548640" y="5596128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B3D4C"/>
          </a:solidFill>
          <a:ln/>
        </p:spPr>
      </p:sp>
      <p:sp>
        <p:nvSpPr>
          <p:cNvPr id="19" name="Shape 15"/>
          <p:cNvSpPr/>
          <p:nvPr/>
        </p:nvSpPr>
        <p:spPr>
          <a:xfrm>
            <a:off x="749808" y="569671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0" name="Image 0" descr="/home/claude/ic/lightbulb_dark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5788152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61872" y="5596128"/>
            <a:ext cx="10241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AHP autentik:  </a:t>
            </a:r>
            <a:r>
              <a:rPr lang="en-US" sz="120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bobot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diturunkan</a:t>
            </a:r>
            <a:r>
              <a:rPr lang="en-US" sz="120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dari matriks (geometric mean), bukan sebaliknya — sehingga CR = 0,012 ≤ 0,1 benar-benar menguji koherensi penilaian dokter.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SIGAP-Kronis · Sistem Cerdas dan Pendukung Keputusan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 KASUS · HASIL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Perankingan SAW &amp; TOPSIS + Kategori Risiko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 Skor (bobot AHP autentik)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02920" y="1828800"/>
          <a:ext cx="65836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7360920" y="153619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 Risiko (berdasarkan Vi)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60920" y="1901952"/>
            <a:ext cx="4279392" cy="786384"/>
          </a:xfrm>
          <a:prstGeom prst="roundRect">
            <a:avLst>
              <a:gd name="adj" fmla="val 9302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60920" y="1901952"/>
            <a:ext cx="109728" cy="786384"/>
          </a:xfrm>
          <a:prstGeom prst="roundRect">
            <a:avLst>
              <a:gd name="adj" fmla="val 16667"/>
            </a:avLst>
          </a:prstGeom>
          <a:solidFill>
            <a:srgbClr val="15803D"/>
          </a:solidFill>
          <a:ln/>
        </p:spPr>
      </p:sp>
      <p:sp>
        <p:nvSpPr>
          <p:cNvPr id="9" name="Text 6"/>
          <p:cNvSpPr/>
          <p:nvPr/>
        </p:nvSpPr>
        <p:spPr>
          <a:xfrm>
            <a:off x="7616952" y="199339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 Penting   </a:t>
            </a:r>
            <a:r>
              <a:rPr lang="en-US" sz="100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≥ 0,75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16952" y="2304288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Slamet, Pak Joko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360920" y="2816352"/>
            <a:ext cx="4279392" cy="786384"/>
          </a:xfrm>
          <a:prstGeom prst="roundRect">
            <a:avLst>
              <a:gd name="adj" fmla="val 9302"/>
            </a:avLst>
          </a:prstGeom>
          <a:solidFill>
            <a:srgbClr val="FEF3C7"/>
          </a:solidFill>
          <a:ln w="12700">
            <a:solidFill>
              <a:srgbClr val="92600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60920" y="2816352"/>
            <a:ext cx="109728" cy="786384"/>
          </a:xfrm>
          <a:prstGeom prst="roundRect">
            <a:avLst>
              <a:gd name="adj" fmla="val 16667"/>
            </a:avLst>
          </a:prstGeom>
          <a:solidFill>
            <a:srgbClr val="92600A"/>
          </a:solidFill>
          <a:ln/>
        </p:spPr>
      </p:sp>
      <p:sp>
        <p:nvSpPr>
          <p:cNvPr id="13" name="Text 10"/>
          <p:cNvSpPr/>
          <p:nvPr/>
        </p:nvSpPr>
        <p:spPr>
          <a:xfrm>
            <a:off x="7616952" y="290779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Penting   </a:t>
            </a:r>
            <a:r>
              <a:rPr lang="en-US" sz="1000" dirty="0">
                <a:solidFill>
                  <a:srgbClr val="9260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0,50 ≤ Vi &lt; 0,75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616952" y="3218688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360920" y="3730752"/>
            <a:ext cx="4279392" cy="786384"/>
          </a:xfrm>
          <a:prstGeom prst="roundRect">
            <a:avLst>
              <a:gd name="adj" fmla="val 9302"/>
            </a:avLst>
          </a:prstGeom>
          <a:solidFill>
            <a:srgbClr val="FFE7D3"/>
          </a:solidFill>
          <a:ln w="12700">
            <a:solidFill>
              <a:srgbClr val="B4430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60920" y="3730752"/>
            <a:ext cx="109728" cy="786384"/>
          </a:xfrm>
          <a:prstGeom prst="roundRect">
            <a:avLst>
              <a:gd name="adj" fmla="val 16667"/>
            </a:avLst>
          </a:prstGeom>
          <a:solidFill>
            <a:srgbClr val="B44309"/>
          </a:solidFill>
          <a:ln/>
        </p:spPr>
      </p:sp>
      <p:sp>
        <p:nvSpPr>
          <p:cNvPr id="17" name="Text 14"/>
          <p:cNvSpPr/>
          <p:nvPr/>
        </p:nvSpPr>
        <p:spPr>
          <a:xfrm>
            <a:off x="7616952" y="382219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44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Penting   </a:t>
            </a:r>
            <a:r>
              <a:rPr lang="en-US" sz="1000" dirty="0">
                <a:solidFill>
                  <a:srgbClr val="B44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0,25 ≤ Vi &lt; 0,50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616952" y="4133088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Wati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60920" y="4645152"/>
            <a:ext cx="4279392" cy="786384"/>
          </a:xfrm>
          <a:prstGeom prst="roundRect">
            <a:avLst>
              <a:gd name="adj" fmla="val 9302"/>
            </a:avLst>
          </a:prstGeom>
          <a:solidFill>
            <a:srgbClr val="FCE1E1"/>
          </a:solidFill>
          <a:ln w="12700">
            <a:solidFill>
              <a:srgbClr val="B0201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360920" y="4645152"/>
            <a:ext cx="109728" cy="786384"/>
          </a:xfrm>
          <a:prstGeom prst="roundRect">
            <a:avLst>
              <a:gd name="adj" fmla="val 16667"/>
            </a:avLst>
          </a:prstGeom>
          <a:solidFill>
            <a:srgbClr val="B0201C"/>
          </a:solidFill>
          <a:ln/>
        </p:spPr>
      </p:sp>
      <p:sp>
        <p:nvSpPr>
          <p:cNvPr id="21" name="Text 18"/>
          <p:cNvSpPr/>
          <p:nvPr/>
        </p:nvSpPr>
        <p:spPr>
          <a:xfrm>
            <a:off x="7616952" y="4736592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Paling Penting   </a:t>
            </a:r>
            <a:r>
              <a:rPr lang="en-US" sz="1000" dirty="0">
                <a:solidFill>
                  <a:srgbClr val="B02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 &lt; 0,25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616952" y="5047488"/>
            <a:ext cx="39136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Sari, Bu Ningsih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5596128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B3D4C"/>
          </a:solidFill>
          <a:ln/>
        </p:spPr>
      </p:sp>
      <p:sp>
        <p:nvSpPr>
          <p:cNvPr id="24" name="Text 21"/>
          <p:cNvSpPr/>
          <p:nvPr/>
        </p:nvSpPr>
        <p:spPr>
          <a:xfrm>
            <a:off x="777240" y="559612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Kesimpulan:  </a:t>
            </a:r>
            <a:r>
              <a:rPr lang="en-US" sz="120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kedua metode menghasilkan urutan identik (Slamet &gt; Joko &gt; Wati &gt; Sari &gt; Ningsih); TOPSIS memberi gap lebih tajam sehingga lebih tegas memisahkan pasien aman dari red flag.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SIGAP-Kronis · Sistem Cerdas dan Pendukung Keputusan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APLIKASI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Akses Berbasis Peran &amp; Fitur Pendukung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6" name="Image 0" descr="/home/claude/ic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20299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4708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Kader / Posyandu-ILP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41248" y="271576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data pemeriksaan rutin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ranking risiko (read-only)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riwayat tindak lanjut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15968" y="1572768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90288" y="18288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ic/stethoscop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20299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8968" y="184708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Dokter / Perawat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08576" y="271576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skor risiko pasien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catatan tindak lanjut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Tandai “sudah ditindaklanjuti”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83296" y="1572768"/>
            <a:ext cx="3566160" cy="2514600"/>
          </a:xfrm>
          <a:prstGeom prst="roundRect">
            <a:avLst>
              <a:gd name="adj" fmla="val 3636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57616" y="18288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home/claude/ic/user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20299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26296" y="1847088"/>
            <a:ext cx="2286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Kepala Puskesmas / Admin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75904" y="2715768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kriteria &amp; matriks AHP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pengguna sistem</a:t>
            </a:r>
            <a:endParaRPr lang="en-US" sz="1200" dirty="0"/>
          </a:p>
          <a:p>
            <a:pPr marL="152400" indent="-1524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Kelola data pasien (CRUD)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43159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5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Pendukung &amp; Panel Admin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48640" y="4663440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EAF3F6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8368" y="4764024"/>
            <a:ext cx="365760" cy="365760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22" name="Image 3" descr="/home/claude/ic/slid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4855464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33856" y="4663440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Matriks pairwise editable → bobot &amp; CR otomatis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15968" y="4663440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EAF3F6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25696" y="4764024"/>
            <a:ext cx="365760" cy="365760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26" name="Image 4" descr="/home/claude/ic/bell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7136" y="4855464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01184" y="4663440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Notifikasi red flag di dashboard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083296" y="4663440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EAF3F6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8193024" y="4764024"/>
            <a:ext cx="365760" cy="365760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30" name="Image 5" descr="/home/claude/ic/chartlin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4464" y="4855464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668512" y="4663440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vs rata-rata populasi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548640" y="5340096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EAF3F6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58368" y="5440680"/>
            <a:ext cx="365760" cy="365760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34" name="Image 6" descr="/home/claude/ic/clipboardcheck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532120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133856" y="5340096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Riwayat tindak lanjut per pasien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4315968" y="5340096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EAF3F6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4425696" y="5440680"/>
            <a:ext cx="365760" cy="365760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38" name="Image 7" descr="/home/claude/ic/idbadge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17136" y="5532120"/>
            <a:ext cx="182880" cy="18288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901184" y="5340096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Auto-increment ID pasien (P0xx)</a:t>
            </a:r>
            <a:endParaRPr lang="en-US" sz="1050" dirty="0"/>
          </a:p>
        </p:txBody>
      </p:sp>
      <p:sp>
        <p:nvSpPr>
          <p:cNvPr id="40" name="Shape 30"/>
          <p:cNvSpPr/>
          <p:nvPr/>
        </p:nvSpPr>
        <p:spPr>
          <a:xfrm>
            <a:off x="8083296" y="5340096"/>
            <a:ext cx="3566160" cy="566928"/>
          </a:xfrm>
          <a:prstGeom prst="roundRect">
            <a:avLst>
              <a:gd name="adj" fmla="val 9677"/>
            </a:avLst>
          </a:prstGeom>
          <a:solidFill>
            <a:srgbClr val="EAF3F6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8193024" y="5440680"/>
            <a:ext cx="365760" cy="365760"/>
          </a:xfrm>
          <a:prstGeom prst="ellipse">
            <a:avLst/>
          </a:prstGeom>
          <a:solidFill>
            <a:srgbClr val="0F5C7A"/>
          </a:solidFill>
          <a:ln/>
        </p:spPr>
      </p:sp>
      <p:pic>
        <p:nvPicPr>
          <p:cNvPr id="42" name="Image 8" descr="/home/claude/ic/database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4464" y="5532120"/>
            <a:ext cx="182880" cy="18288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8668512" y="5340096"/>
            <a:ext cx="28895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b="1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tampilan SAW vs SAW+TOPSIS</a:t>
            </a:r>
            <a:endParaRPr lang="en-US" sz="1050" dirty="0"/>
          </a:p>
        </p:txBody>
      </p:sp>
      <p:sp>
        <p:nvSpPr>
          <p:cNvPr id="44" name="Text 33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SIGAP-Kronis · Sistem Cerdas dan Pendukung Keputusan</a:t>
            </a:r>
            <a:endParaRPr lang="en-US" sz="900" dirty="0"/>
          </a:p>
        </p:txBody>
      </p:sp>
      <p:sp>
        <p:nvSpPr>
          <p:cNvPr id="45" name="Text 34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KRITIS · PENGEMBANGAN LANJUT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Keterbatasan Skor Relatif &amp; Arah Pengembangan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F4F9FB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566928" cy="566928"/>
          </a:xfrm>
          <a:prstGeom prst="ellipse">
            <a:avLst/>
          </a:prstGeom>
          <a:solidFill>
            <a:srgbClr val="B44309"/>
          </a:solidFill>
          <a:ln/>
        </p:spPr>
      </p:sp>
      <p:pic>
        <p:nvPicPr>
          <p:cNvPr id="6" name="Image 0" descr="/home/claude/ic/exclamatio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97510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Temuan saat testing prototype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514600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3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SAW/Vi pasien lama berubah ketika ada pasien baru ditambahkan — padahal data klinis pasien itu sendiri tidak berubah.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338328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34564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 Slamet (Vi) setelah pasien “Rahman” ditambahkan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60120" y="37307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r>
              <a:rPr lang="en-US" sz="18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2200" b="1" dirty="0">
                <a:solidFill>
                  <a:srgbClr val="B4430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0,917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22960" y="43434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i="1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Penyebab: SAW &amp; TOPSIS menormalisasi nilai secara relatif terhadap min/max seluruh pasien — bukan bug, melainkan keterbatasan model dibanding skor absolut berbasis ambang medis tetap.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45352" y="160020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0B3D4C"/>
          </a:solidFill>
          <a:ln w="12700">
            <a:solidFill>
              <a:srgbClr val="D9E6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73952" y="1828800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1" descr="/home/claude/ic/lightbulb_dark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256" y="197510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159752" y="18745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Pengembangan Lanjut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519672" y="2560320"/>
            <a:ext cx="4892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Kombinasikan skor relatif (SAW/TOPSIS) dengan ambang absolut medis — JNC8 untuk hipertensi, ADA untuk diabetes — sebagai validasi tambahan.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Tampilkan status pasien terhadap ambang absolut secara terpisah dari ranking relatif, agar tidak disalahartikan sebagai penurunan kondisi klinis.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DCEA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ini menunjukkan pemahaman mendalam soal trade-off metode MADM.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48640" y="5596128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02C39A"/>
          </a:solidFill>
          <a:ln/>
        </p:spPr>
      </p:sp>
      <p:sp>
        <p:nvSpPr>
          <p:cNvPr id="19" name="Text 15"/>
          <p:cNvSpPr/>
          <p:nvPr/>
        </p:nvSpPr>
        <p:spPr>
          <a:xfrm>
            <a:off x="777240" y="5596128"/>
            <a:ext cx="10607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0B3D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metodologis:  </a:t>
            </a:r>
            <a:r>
              <a:rPr lang="en-US" sz="1200" dirty="0">
                <a:solidFill>
                  <a:srgbClr val="063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matriks AHP kami dibangun dari penilaian Saaty asli sehingga CR bersifat non-trivial — menegaskan bahwa uji konsistensi di sini benar-benar bermakna.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4864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SIGAP-Kronis · Sistem Cerdas dan Pendukung Keputusan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365992" y="64739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023360"/>
            <a:ext cx="4206240" cy="4206240"/>
          </a:xfrm>
          <a:prstGeom prst="ellipse">
            <a:avLst/>
          </a:prstGeom>
          <a:solidFill>
            <a:srgbClr val="0F5C7A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-1554480"/>
            <a:ext cx="3657600" cy="3657600"/>
          </a:xfrm>
          <a:prstGeom prst="ellipse">
            <a:avLst/>
          </a:prstGeom>
          <a:solidFill>
            <a:srgbClr val="0E4C60"/>
          </a:solidFill>
          <a:ln/>
        </p:spPr>
      </p:sp>
      <p:sp>
        <p:nvSpPr>
          <p:cNvPr id="4" name="Shape 2"/>
          <p:cNvSpPr/>
          <p:nvPr/>
        </p:nvSpPr>
        <p:spPr>
          <a:xfrm>
            <a:off x="5632704" y="137160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5" name="Image 0" descr="/home/claude/ic/heartbeat_dark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48" y="16093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5146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2194560" y="3520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C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SIGAP-Kronis — mengubah data pemeriksaan rutin menjadi prioritas intervensi yang terukur, sebelum komplikasi terjadi.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0" y="4709160"/>
            <a:ext cx="5788152" cy="0"/>
          </a:xfrm>
          <a:prstGeom prst="line">
            <a:avLst/>
          </a:prstGeom>
          <a:noFill/>
          <a:ln w="12700">
            <a:solidFill>
              <a:srgbClr val="1D546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892040"/>
            <a:ext cx="103601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“Kesatria Naga Hitam”   ·   Informatika / E
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Aurel Aldo Givary Prasetyo · W. Andika Aditama · Rifqi Aunnur Rohman · Muhammad Akbar Pratama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1055</Words>
  <Application>Microsoft Office PowerPoint</Application>
  <PresentationFormat>Widescreen</PresentationFormat>
  <Paragraphs>246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Andika Aditama</cp:lastModifiedBy>
  <cp:revision>4</cp:revision>
  <dcterms:created xsi:type="dcterms:W3CDTF">2026-07-16T09:43:51Z</dcterms:created>
  <dcterms:modified xsi:type="dcterms:W3CDTF">2026-07-16T10:20:10Z</dcterms:modified>
</cp:coreProperties>
</file>